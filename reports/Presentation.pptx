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5A623"/>
                </a:solidFill>
              </a:rPr>
              <a:t>BLUESTOCK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Capstone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</a:rPr>
              <a:t>ETL  →  SQLite  →  EDA  →  Performance Analytics  →  Advanced Analytics  → 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</a:rPr>
              <a:t>40-Scheme Universe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pipeline across a 40-scheme mutual fund universe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₹62.74L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AUM (from ₹30.18L Cr)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6420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Latest Monthly SIP Inflow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664208"/>
            <a:ext cx="24688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4688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Investor Folios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66420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0" y="237744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Schemes Analyzed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Mirae Asset Large Cap Fund tops the composite Fund Scorecard (84.4/100)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Small Cap schemes dominate the highest-VaR (riskiest) tail of the universe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3 equity funds flagged "Highly Concentrated" by sector HHI (&gt; 2,500)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~35-40% of synthetic SIP investors (6+ SIPs) show early lapse-risk signals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Interactive 4-page HTML dashboard replaces the requested .pbix/.twbx 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ETL, normalized SQLite schema, zero hard-coded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2057400"/>
            <a:ext cx="45720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73736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15000" y="2057400"/>
            <a:ext cx="45720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73736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58200" y="2057400"/>
            <a:ext cx="45720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173736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Analysis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NAV reindexed to full business-day calendar per scheme, then forward-filled — closes weekend/holiday gaps without back-filling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CAGR annualized by trading days (252/yr) from actual NAV observation count, not calendar-day offsets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Sharpe/Sortino use a real 6.5% annual risk-free rate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SQLite: 11 tables, zero orphaned foreign keys, all 12 analytical queries pass verification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Data Disclosure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The source export did not include data/raw/08_investor_transactions.csv, which the project's own ETL scripts and SQLite schema depend on for investor-level analysis.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971800"/>
            <a:ext cx="9875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seeded, reproducible synthetic dataset was generated instead (scripts/generate_synthetic_transactions.py)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~1,900 investors, ~33,000 transactions with realistic SIP/Lumpsum/Redemption behavior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Every chart, table, and notebook section built from it is explicitly labeled "(synthetic)"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Swapping in the real export requires zero code changes — same schema throughout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AUM &amp; SIP Growth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pic>
        <p:nvPicPr>
          <p:cNvPr id="4" name="Image 0" descr="reports/charts/aum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758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73736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AUM grew ~108% cumulatively across the sample window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Growth is broadly steady rather than driven by a single spike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 10 fund houses account for the large majority of industry AUM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Consistent with well-documented concentration in Indian MF assets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Allocation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 holdings across the universe</a:t>
            </a:r>
            <a:endParaRPr lang="en-US" sz="1400" dirty="0"/>
          </a:p>
        </p:txBody>
      </p:sp>
      <p:pic>
        <p:nvPicPr>
          <p:cNvPr id="4" name="Image 0" descr="reports/charts/sector_allocation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438912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92024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Holdings concentrate in a handful of dominant sectors across the equity universe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This same concentration signal is quantified per-fund via the HHI metric in Advanced Analytics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Sector data available for 34 of 40 schemes (equity-only; debt/liquid/gilt don't disclose stock holdings)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Fund Scorecard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CAGR + 25% Sharpe + 20% Alpha + 15% Expense + 10% Drawdown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Mirae Asset Large Cap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84.4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31.3%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1.45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HDFC Mid-Cap Opportunities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81.9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33.6%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ICICI Pru Midcap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81.9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30.2%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1.18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Kotak Flexicap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79.4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25.7%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1.31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ICICI Pru Bluechip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77.4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1.03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reports/charts/fund_score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17320"/>
            <a:ext cx="411480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8080" y="39319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Rolling 90-day Sharpe crosses zero repeatedly for every top-5-AUM fund — trailing risk-adjusted performance is regime-dependent, not stable.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90-Day Sharpe Ratio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by AUM</a:t>
            </a:r>
            <a:endParaRPr lang="en-US" sz="1400" dirty="0"/>
          </a:p>
        </p:txBody>
      </p:sp>
      <p:pic>
        <p:nvPicPr>
          <p:cNvPr id="4" name="Image 0" descr="reports/charts/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10241280" cy="5214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Value-at-Risk &amp; Conditional VaR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5th-percentile historical VaR(95%); CVaR = mean of the worst 5% of days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3152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 95%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CVaR 95%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SBI Small Cap Fund (Direct)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Equity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-2.69%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-3.24%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Axis Small Cap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Equity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-2.62%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-3.17%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ABSL Small Cap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Equity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-2.60%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-3.25%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Nippon India Small Cap Fund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Equity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-2.54%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-3.23%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SBI Small Cap Fund (Regular)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Equity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-2.45%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-3.06%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7373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F2937"/>
                </a:solidFill>
              </a:rPr>
              <a:t>Small Cap dominates the riskiest tail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Consistent with higher idiosyncratic volatility &amp; thinner liquidity in small-cap stocks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CVaR runs further below VaR for every fund shown — bad days tend to be worse than the VaR threshold alone suggests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Behavior (synthetic)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&amp; SIP continuity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55648"/>
            <a:ext cx="310896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31089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Synthetic Investors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755648"/>
            <a:ext cx="310896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35-40%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2578608"/>
            <a:ext cx="310896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At-Risk SIP Investors (avg gap &gt; 35d)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755648"/>
            <a:ext cx="338328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Years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55280" y="2578608"/>
            <a:ext cx="338328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Cohort Span (2022-2026)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Total invested skews toward earlier cohorts mainly due to longer accumulation time, not higher per-investor commitment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Average SIP ticket size is comparable across cohorts — a more reliable behavioral signal than total invested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Widening SIP cadence (avg gap &gt; 35 days) is a plausible early-warning signal for lapse in a live deployment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Monte Carlo &amp; Efficient Frontier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— 5-year NAV projection  |  B4 — Markowitz optimization</a:t>
            </a:r>
            <a:endParaRPr lang="en-US" sz="1400" dirty="0"/>
          </a:p>
        </p:txBody>
      </p:sp>
      <p:pic>
        <p:nvPicPr>
          <p:cNvPr id="4" name="Image 0" descr="reports/charts/monte_carlo_nav_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291840"/>
          </a:xfrm>
          <a:prstGeom prst="rect">
            <a:avLst/>
          </a:prstGeom>
        </p:spPr>
      </p:pic>
      <p:pic>
        <p:nvPicPr>
          <p:cNvPr id="5" name="Image 1" descr="reports/charts/efficient_fronti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Monte Carlo bands widen substantially by year 5 — compounding uncertainty, not just point-estimate CAGR, should inform return expectations.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17920" y="5349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 max-Sharpe portfolio concentrates in 2-3 names rather than spreading evenly — AUM size and optimal weight are unrelated.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pages, every page with 2+ genuinely functional slicers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Industry Overview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AUM trend, SIP inflow trend, top-N AMC ranking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</a:rPr>
              <a:t>Slicers: Year, Top-N AMCs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Fund Performance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Risk/return scatter, sortable scorecard table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</a:rPr>
              <a:t>Slicers: Fund house, Category, Plan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Investor Analytics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State-wise investment, transaction mix, SIP-by-age (synthetic)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303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</a:rPr>
              <a:t>Slicers: State, Age Group, City Tier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SIP &amp; Market Trends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SIP vs. Nifty50, category inflow heatmap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5303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</a:rPr>
              <a:t>Slicers: Category, Top-N Categories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Note: a native Power BI (.pbix) / Tableau (.twbx) file could not be authored — both require their proprietary desktop apps. This HTML/Chart.js dashboard is a functional substitute.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</a:rPr>
              <a:t>Prioritize the top-5 Fund Scorecard names as a "core recommended list" — balanced across return, risk, alpha, cost &amp; drawdown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</a:rPr>
              <a:t>Flag Small Cap VaR/CVaR leaders with explicit downside disclosures; cap Small Cap exposure in Low/Moderate risk-appetite recommendations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</a:rPr>
              <a:t>Review the 3 "Highly Concentrated" HHI funds for diversification guidance, especially where they overlap with the high-VaR tail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</a:rPr>
              <a:t>Obtain the real investor-transaction export — cohort &amp; SIP-continuity figures are illustrative only until validated on real data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</a:rPr>
              <a:t>Operationalize the SIP "at-risk" flag as a live retention-team alert once real data is available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</a:rPr>
              <a:t>Full detail: notebooks/ 03-05  |  reports/  |  dashboard/bluestock_mf_dashboard.html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PptxGenJS Presentation</dc:subject>
  <dc:creator>Bluestock Analytics</dc:creator>
  <cp:lastModifiedBy>Bluestock Analytics</cp:lastModifiedBy>
  <cp:revision>1</cp:revision>
  <dcterms:created xsi:type="dcterms:W3CDTF">2026-07-05T10:34:36Z</dcterms:created>
  <dcterms:modified xsi:type="dcterms:W3CDTF">2026-07-05T10:34:36Z</dcterms:modified>
</cp:coreProperties>
</file>